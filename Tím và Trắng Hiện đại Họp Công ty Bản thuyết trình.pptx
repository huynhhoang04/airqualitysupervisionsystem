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lear Sans" charset="1" panose="020B0503030202020304"/>
      <p:regular r:id="rId16"/>
    </p:embeddedFont>
    <p:embeddedFont>
      <p:font typeface="Montserrat Medium" charset="1" panose="00000600000000000000"/>
      <p:regular r:id="rId17"/>
    </p:embeddedFont>
    <p:embeddedFont>
      <p:font typeface="Montserrat" charset="1" panose="00000500000000000000"/>
      <p:regular r:id="rId18"/>
    </p:embeddedFont>
    <p:embeddedFont>
      <p:font typeface="Clear Sans Bold" charset="1" panose="020B0803030202020304"/>
      <p:regular r:id="rId19"/>
    </p:embeddedFont>
    <p:embeddedFont>
      <p:font typeface="Clear Sans Medium" charset="1" panose="020B0603030202020304"/>
      <p:regular r:id="rId20"/>
    </p:embeddedFont>
    <p:embeddedFont>
      <p:font typeface="Clear Sans Light" charset="1" panose="020B03030302020203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jpe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5C2D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17447" y="1028604"/>
            <a:ext cx="2035972" cy="1133703"/>
            <a:chOff x="0" y="0"/>
            <a:chExt cx="2714630" cy="151160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714630" cy="1511603"/>
              <a:chOff x="0" y="0"/>
              <a:chExt cx="3814016" cy="212378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814016" cy="2123781"/>
              </a:xfrm>
              <a:custGeom>
                <a:avLst/>
                <a:gdLst/>
                <a:ahLst/>
                <a:cxnLst/>
                <a:rect r="r" b="b" t="t" l="l"/>
                <a:pathLst>
                  <a:path h="2123781" w="3814016">
                    <a:moveTo>
                      <a:pt x="0" y="0"/>
                    </a:moveTo>
                    <a:lnTo>
                      <a:pt x="0" y="2123781"/>
                    </a:lnTo>
                    <a:lnTo>
                      <a:pt x="3814016" y="2123781"/>
                    </a:lnTo>
                    <a:lnTo>
                      <a:pt x="3814016" y="0"/>
                    </a:lnTo>
                    <a:lnTo>
                      <a:pt x="0" y="0"/>
                    </a:lnTo>
                    <a:close/>
                    <a:moveTo>
                      <a:pt x="3753056" y="2062821"/>
                    </a:moveTo>
                    <a:lnTo>
                      <a:pt x="59690" y="2062821"/>
                    </a:lnTo>
                    <a:lnTo>
                      <a:pt x="59690" y="59690"/>
                    </a:lnTo>
                    <a:lnTo>
                      <a:pt x="3753056" y="59690"/>
                    </a:lnTo>
                    <a:lnTo>
                      <a:pt x="3753056" y="206282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502965" y="495456"/>
              <a:ext cx="1747268" cy="539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8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NHÓM 7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123950"/>
            <a:ext cx="10083084" cy="423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42"/>
              </a:lnSpc>
            </a:pPr>
            <a:r>
              <a:rPr lang="en-US" sz="9310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Smart air monitoring and filtration system</a:t>
            </a:r>
          </a:p>
          <a:p>
            <a:pPr algn="l">
              <a:lnSpc>
                <a:spcPts val="277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082153"/>
            <a:ext cx="2741718" cy="173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9"/>
              </a:lnSpc>
            </a:pPr>
            <a:r>
              <a:rPr lang="en-US" sz="12999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01.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172075"/>
            <a:ext cx="10958379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Hệ thống giám sát và lọc không khí thông minh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10811" y="4358882"/>
            <a:ext cx="7353723" cy="4899418"/>
          </a:xfrm>
          <a:custGeom>
            <a:avLst/>
            <a:gdLst/>
            <a:ahLst/>
            <a:cxnLst/>
            <a:rect r="r" b="b" t="t" l="l"/>
            <a:pathLst>
              <a:path h="4899418" w="7353723">
                <a:moveTo>
                  <a:pt x="0" y="0"/>
                </a:moveTo>
                <a:lnTo>
                  <a:pt x="7353723" y="0"/>
                </a:lnTo>
                <a:lnTo>
                  <a:pt x="7353723" y="4899418"/>
                </a:lnTo>
                <a:lnTo>
                  <a:pt x="0" y="4899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21639" y="1123950"/>
            <a:ext cx="7417611" cy="2813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10000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Tổng</a:t>
            </a:r>
            <a:r>
              <a:rPr lang="en-US" sz="10000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 Quan Dự Án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21639" y="3937928"/>
            <a:ext cx="10305485" cy="5718041"/>
            <a:chOff x="0" y="0"/>
            <a:chExt cx="13740646" cy="762405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8575"/>
              <a:ext cx="12447054" cy="530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</a:pPr>
              <a:r>
                <a:rPr lang="en-US" sz="28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Ý TƯỞNG VỀ HỆ THỐNG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535464"/>
              <a:ext cx="13740646" cy="6088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Là hệ Thống Giám Sát </a:t>
              </a:r>
              <a:r>
                <a:rPr lang="en-US" b="true" sz="2000">
                  <a:solidFill>
                    <a:srgbClr val="30303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nhiệt độ</a:t>
              </a: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</a:t>
              </a:r>
              <a:r>
                <a:rPr lang="en-US" b="true" sz="2000">
                  <a:solidFill>
                    <a:srgbClr val="30303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độ ẩm</a:t>
              </a: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nồng độ </a:t>
              </a:r>
              <a:r>
                <a:rPr lang="en-US" b="true" sz="2000">
                  <a:solidFill>
                    <a:srgbClr val="30303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bụi mịn</a:t>
              </a: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</a:t>
              </a:r>
              <a:r>
                <a:rPr lang="en-US" b="true" sz="2000">
                  <a:solidFill>
                    <a:srgbClr val="30303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PM2.5</a:t>
              </a: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và </a:t>
              </a:r>
              <a:r>
                <a:rPr lang="en-US" b="true" sz="2000">
                  <a:solidFill>
                    <a:srgbClr val="30303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khí CO2</a:t>
              </a: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tăng cao trong không gian kín gây ảnh hưởng sức khỏe và </a:t>
              </a:r>
              <a:r>
                <a:rPr lang="en-US" b="true" sz="2000">
                  <a:solidFill>
                    <a:srgbClr val="30303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chủ động kích hoạt cơ chế lọc</a:t>
              </a: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.</a:t>
              </a:r>
            </a:p>
            <a:p>
              <a:pPr algn="just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Mục tiêu áp dụng : Quản cafe, nhà riêng hoặc các loại không gian kín nói chung mà điều hòa </a:t>
              </a:r>
              <a:r>
                <a:rPr lang="en-US" b="true" sz="2000">
                  <a:solidFill>
                    <a:srgbClr val="30303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không thế</a:t>
              </a: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lọc được hạt bụi mịn PM2.5 siêu nhỏ</a:t>
              </a:r>
            </a:p>
            <a:p>
              <a:pPr algn="just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Ý tưởng cốt lỗi :</a:t>
              </a:r>
            </a:p>
            <a:p>
              <a:pPr algn="just" marL="863601" indent="-287867" lvl="2">
                <a:lnSpc>
                  <a:spcPts val="2800"/>
                </a:lnSpc>
                <a:buFont typeface="Arial"/>
                <a:buChar char="⚬"/>
              </a:pP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Sử dụng thuật toán Học máy để tính toán </a:t>
              </a:r>
              <a:r>
                <a:rPr lang="en-US" b="true" sz="2000">
                  <a:solidFill>
                    <a:srgbClr val="30303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ngưỡng an toàn</a:t>
              </a: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riêng dựa trên thông số không gian mục tiêu(thể tính, khu vực, mục đích, vv).</a:t>
              </a:r>
            </a:p>
            <a:p>
              <a:pPr algn="just" marL="863601" indent="-287867" lvl="2">
                <a:lnSpc>
                  <a:spcPts val="2800"/>
                </a:lnSpc>
                <a:buFont typeface="Arial"/>
                <a:buChar char="⚬"/>
              </a:pP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Tự động kích hoạt cơ cấu lọc </a:t>
              </a:r>
              <a:r>
                <a:rPr lang="en-US" b="true" sz="2000">
                  <a:solidFill>
                    <a:srgbClr val="30303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HEPA</a:t>
              </a: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để làm sạch không khí khi vượt ngưỡng an toàn.</a:t>
              </a:r>
            </a:p>
            <a:p>
              <a:pPr algn="just" marL="863601" indent="-287867" lvl="2">
                <a:lnSpc>
                  <a:spcPts val="2800"/>
                </a:lnSpc>
                <a:buFont typeface="Arial"/>
                <a:buChar char="⚬"/>
              </a:pP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Ứng dụng mô hình Học sâu </a:t>
              </a:r>
              <a:r>
                <a:rPr lang="en-US" b="true" sz="2000">
                  <a:solidFill>
                    <a:srgbClr val="30303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dự báo chất lượng</a:t>
              </a: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không khí trước 24 giờ để đưa ra </a:t>
              </a:r>
              <a:r>
                <a:rPr lang="en-US" b="true" sz="2000">
                  <a:solidFill>
                    <a:srgbClr val="30303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cảnh báo sớm</a:t>
              </a: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cũng như chủ động lọc không khí trước khi chạm ngưỡng độc hại.</a:t>
              </a:r>
            </a:p>
            <a:p>
              <a:pPr algn="just">
                <a:lnSpc>
                  <a:spcPts val="2800"/>
                </a:lnSpc>
              </a:pPr>
            </a:p>
            <a:p>
              <a:pPr algn="just">
                <a:lnSpc>
                  <a:spcPts val="28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252929" y="1276350"/>
            <a:ext cx="2159435" cy="3378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999"/>
              </a:lnSpc>
            </a:pPr>
            <a:r>
              <a:rPr lang="en-US" sz="12999">
                <a:gradFill>
                  <a:gsLst>
                    <a:gs pos="0">
                      <a:srgbClr val="303030">
                        <a:alpha val="50000"/>
                      </a:srgbClr>
                    </a:gs>
                    <a:gs pos="100000">
                      <a:srgbClr val="868686">
                        <a:alpha val="5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"/>
                <a:ea typeface="Montserrat"/>
                <a:cs typeface="Montserrat"/>
                <a:sym typeface="Montserrat"/>
              </a:rPr>
              <a:t>02.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2D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10292" y="1838503"/>
            <a:ext cx="2403291" cy="2239716"/>
          </a:xfrm>
          <a:custGeom>
            <a:avLst/>
            <a:gdLst/>
            <a:ahLst/>
            <a:cxnLst/>
            <a:rect r="r" b="b" t="t" l="l"/>
            <a:pathLst>
              <a:path h="2239716" w="2403291">
                <a:moveTo>
                  <a:pt x="0" y="0"/>
                </a:moveTo>
                <a:lnTo>
                  <a:pt x="2403291" y="0"/>
                </a:lnTo>
                <a:lnTo>
                  <a:pt x="2403291" y="2239716"/>
                </a:lnTo>
                <a:lnTo>
                  <a:pt x="0" y="2239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6284" y="4674857"/>
            <a:ext cx="2403291" cy="2239716"/>
          </a:xfrm>
          <a:custGeom>
            <a:avLst/>
            <a:gdLst/>
            <a:ahLst/>
            <a:cxnLst/>
            <a:rect r="r" b="b" t="t" l="l"/>
            <a:pathLst>
              <a:path h="2239716" w="2403291">
                <a:moveTo>
                  <a:pt x="0" y="0"/>
                </a:moveTo>
                <a:lnTo>
                  <a:pt x="2403291" y="0"/>
                </a:lnTo>
                <a:lnTo>
                  <a:pt x="2403291" y="2239716"/>
                </a:lnTo>
                <a:lnTo>
                  <a:pt x="0" y="2239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10292" y="7128776"/>
            <a:ext cx="2403291" cy="2239716"/>
          </a:xfrm>
          <a:custGeom>
            <a:avLst/>
            <a:gdLst/>
            <a:ahLst/>
            <a:cxnLst/>
            <a:rect r="r" b="b" t="t" l="l"/>
            <a:pathLst>
              <a:path h="2239716" w="2403291">
                <a:moveTo>
                  <a:pt x="0" y="0"/>
                </a:moveTo>
                <a:lnTo>
                  <a:pt x="2403291" y="0"/>
                </a:lnTo>
                <a:lnTo>
                  <a:pt x="2403291" y="2239716"/>
                </a:lnTo>
                <a:lnTo>
                  <a:pt x="0" y="2239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963133" y="4211497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503892" y="4459954"/>
            <a:ext cx="2004582" cy="2004582"/>
          </a:xfrm>
          <a:custGeom>
            <a:avLst/>
            <a:gdLst/>
            <a:ahLst/>
            <a:cxnLst/>
            <a:rect r="r" b="b" t="t" l="l"/>
            <a:pathLst>
              <a:path h="2004582" w="2004582">
                <a:moveTo>
                  <a:pt x="0" y="0"/>
                </a:moveTo>
                <a:lnTo>
                  <a:pt x="2004582" y="0"/>
                </a:lnTo>
                <a:lnTo>
                  <a:pt x="2004582" y="2004582"/>
                </a:lnTo>
                <a:lnTo>
                  <a:pt x="0" y="200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915196" y="8400987"/>
            <a:ext cx="1275634" cy="1425290"/>
          </a:xfrm>
          <a:custGeom>
            <a:avLst/>
            <a:gdLst/>
            <a:ahLst/>
            <a:cxnLst/>
            <a:rect r="r" b="b" t="t" l="l"/>
            <a:pathLst>
              <a:path h="1425290" w="1275634">
                <a:moveTo>
                  <a:pt x="0" y="0"/>
                </a:moveTo>
                <a:lnTo>
                  <a:pt x="1275634" y="0"/>
                </a:lnTo>
                <a:lnTo>
                  <a:pt x="1275634" y="1425290"/>
                </a:lnTo>
                <a:lnTo>
                  <a:pt x="0" y="14252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59747" y="1425407"/>
            <a:ext cx="1531083" cy="1301421"/>
          </a:xfrm>
          <a:custGeom>
            <a:avLst/>
            <a:gdLst/>
            <a:ahLst/>
            <a:cxnLst/>
            <a:rect r="r" b="b" t="t" l="l"/>
            <a:pathLst>
              <a:path h="1301421" w="1531083">
                <a:moveTo>
                  <a:pt x="0" y="0"/>
                </a:moveTo>
                <a:lnTo>
                  <a:pt x="1531083" y="0"/>
                </a:lnTo>
                <a:lnTo>
                  <a:pt x="1531083" y="1301421"/>
                </a:lnTo>
                <a:lnTo>
                  <a:pt x="0" y="13014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2834798" y="2598992"/>
            <a:ext cx="2855270" cy="5649642"/>
            <a:chOff x="0" y="0"/>
            <a:chExt cx="2620010" cy="5184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10475" t="0" r="-10475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-658905">
            <a:off x="4600613" y="6796026"/>
            <a:ext cx="2530439" cy="1328480"/>
          </a:xfrm>
          <a:custGeom>
            <a:avLst/>
            <a:gdLst/>
            <a:ahLst/>
            <a:cxnLst/>
            <a:rect r="r" b="b" t="t" l="l"/>
            <a:pathLst>
              <a:path h="1328480" w="2530439">
                <a:moveTo>
                  <a:pt x="0" y="0"/>
                </a:moveTo>
                <a:lnTo>
                  <a:pt x="2530439" y="0"/>
                </a:lnTo>
                <a:lnTo>
                  <a:pt x="2530439" y="1328480"/>
                </a:lnTo>
                <a:lnTo>
                  <a:pt x="0" y="13284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1487524">
            <a:off x="4254049" y="5201103"/>
            <a:ext cx="2287015" cy="1200683"/>
          </a:xfrm>
          <a:custGeom>
            <a:avLst/>
            <a:gdLst/>
            <a:ahLst/>
            <a:cxnLst/>
            <a:rect r="r" b="b" t="t" l="l"/>
            <a:pathLst>
              <a:path h="1200683" w="2287015">
                <a:moveTo>
                  <a:pt x="0" y="0"/>
                </a:moveTo>
                <a:lnTo>
                  <a:pt x="2287014" y="0"/>
                </a:lnTo>
                <a:lnTo>
                  <a:pt x="2287014" y="1200683"/>
                </a:lnTo>
                <a:lnTo>
                  <a:pt x="0" y="12006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3286497">
            <a:off x="4545623" y="3539346"/>
            <a:ext cx="2530439" cy="1328480"/>
          </a:xfrm>
          <a:custGeom>
            <a:avLst/>
            <a:gdLst/>
            <a:ahLst/>
            <a:cxnLst/>
            <a:rect r="r" b="b" t="t" l="l"/>
            <a:pathLst>
              <a:path h="1328480" w="2530439">
                <a:moveTo>
                  <a:pt x="0" y="0"/>
                </a:moveTo>
                <a:lnTo>
                  <a:pt x="2530439" y="0"/>
                </a:lnTo>
                <a:lnTo>
                  <a:pt x="2530439" y="1328480"/>
                </a:lnTo>
                <a:lnTo>
                  <a:pt x="0" y="13284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5400000">
            <a:off x="8123079" y="3355258"/>
            <a:ext cx="732426" cy="574955"/>
          </a:xfrm>
          <a:custGeom>
            <a:avLst/>
            <a:gdLst/>
            <a:ahLst/>
            <a:cxnLst/>
            <a:rect r="r" b="b" t="t" l="l"/>
            <a:pathLst>
              <a:path h="574955" w="732426">
                <a:moveTo>
                  <a:pt x="0" y="0"/>
                </a:moveTo>
                <a:lnTo>
                  <a:pt x="732427" y="0"/>
                </a:lnTo>
                <a:lnTo>
                  <a:pt x="732427" y="574954"/>
                </a:lnTo>
                <a:lnTo>
                  <a:pt x="0" y="5749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5400000">
            <a:off x="8170149" y="7269900"/>
            <a:ext cx="765728" cy="601097"/>
          </a:xfrm>
          <a:custGeom>
            <a:avLst/>
            <a:gdLst/>
            <a:ahLst/>
            <a:cxnLst/>
            <a:rect r="r" b="b" t="t" l="l"/>
            <a:pathLst>
              <a:path h="601097" w="765728">
                <a:moveTo>
                  <a:pt x="0" y="0"/>
                </a:moveTo>
                <a:lnTo>
                  <a:pt x="765728" y="0"/>
                </a:lnTo>
                <a:lnTo>
                  <a:pt x="765728" y="601096"/>
                </a:lnTo>
                <a:lnTo>
                  <a:pt x="0" y="6010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1487524">
            <a:off x="10256762" y="5221180"/>
            <a:ext cx="2201163" cy="1155611"/>
          </a:xfrm>
          <a:custGeom>
            <a:avLst/>
            <a:gdLst/>
            <a:ahLst/>
            <a:cxnLst/>
            <a:rect r="r" b="b" t="t" l="l"/>
            <a:pathLst>
              <a:path h="1155611" w="2201163">
                <a:moveTo>
                  <a:pt x="0" y="0"/>
                </a:moveTo>
                <a:lnTo>
                  <a:pt x="2201164" y="0"/>
                </a:lnTo>
                <a:lnTo>
                  <a:pt x="2201164" y="1155611"/>
                </a:lnTo>
                <a:lnTo>
                  <a:pt x="0" y="11556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399559" y="709429"/>
            <a:ext cx="11401372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b="true" sz="3199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KIẾN TRÚC TỔNG QUAN HỆ THỐNG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-342159" y="511454"/>
            <a:ext cx="2741718" cy="173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9"/>
              </a:lnSpc>
            </a:pPr>
            <a:r>
              <a:rPr lang="en-US" sz="12999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03.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23758" y="3412123"/>
            <a:ext cx="2544756" cy="70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Cụm thiết bị nhúng(Node 1)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173" y="6366796"/>
            <a:ext cx="2544756" cy="70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Cụm thiết bị nhúng(Node 2)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73520" y="8881101"/>
            <a:ext cx="2544756" cy="70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Cụm thiết bị nhúng(Node 3)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401106" y="6493111"/>
            <a:ext cx="2544756" cy="35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Máy chủ trung tâm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598780" y="1657500"/>
            <a:ext cx="338770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Gia</a:t>
            </a:r>
            <a:r>
              <a:rPr lang="en-US" b="true" sz="25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o Diện Người Dùng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401106" y="8029512"/>
            <a:ext cx="254475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Hệ Cơ Sở Dữ Liệu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15030" y="2076117"/>
            <a:ext cx="544824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Cảnh báo sớm &amp; Điều khiển thủ công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974816" y="2786911"/>
            <a:ext cx="306273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Clear Sans"/>
                <a:ea typeface="Clear Sans"/>
                <a:cs typeface="Clear Sans"/>
                <a:sym typeface="Clear Sans"/>
              </a:rPr>
              <a:t>Mô hình và thật toán AI</a:t>
            </a:r>
          </a:p>
        </p:txBody>
      </p:sp>
      <p:sp>
        <p:nvSpPr>
          <p:cNvPr name="TextBox 37" id="37"/>
          <p:cNvSpPr txBox="true"/>
          <p:nvPr/>
        </p:nvSpPr>
        <p:spPr>
          <a:xfrm rot="-5400000">
            <a:off x="5766952" y="5596840"/>
            <a:ext cx="306273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b="true" sz="19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MQTT Broker</a:t>
            </a:r>
          </a:p>
        </p:txBody>
      </p:sp>
      <p:sp>
        <p:nvSpPr>
          <p:cNvPr name="TextBox 38" id="38"/>
          <p:cNvSpPr txBox="true"/>
          <p:nvPr/>
        </p:nvSpPr>
        <p:spPr>
          <a:xfrm rot="1804716">
            <a:off x="5275666" y="4282830"/>
            <a:ext cx="306273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b="true" sz="17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Telemetry</a:t>
            </a:r>
          </a:p>
        </p:txBody>
      </p:sp>
      <p:sp>
        <p:nvSpPr>
          <p:cNvPr name="TextBox 39" id="39"/>
          <p:cNvSpPr txBox="true"/>
          <p:nvPr/>
        </p:nvSpPr>
        <p:spPr>
          <a:xfrm rot="1749269">
            <a:off x="3436756" y="3880361"/>
            <a:ext cx="306273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b="true" sz="17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Command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965880" y="5965128"/>
            <a:ext cx="306273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b="true" sz="17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Command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753199" y="5363086"/>
            <a:ext cx="306273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b="true" sz="17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Telemetry</a:t>
            </a:r>
          </a:p>
        </p:txBody>
      </p:sp>
      <p:sp>
        <p:nvSpPr>
          <p:cNvPr name="TextBox 42" id="42"/>
          <p:cNvSpPr txBox="true"/>
          <p:nvPr/>
        </p:nvSpPr>
        <p:spPr>
          <a:xfrm rot="-2315639">
            <a:off x="3686535" y="8224775"/>
            <a:ext cx="306273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b="true" sz="17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Command</a:t>
            </a:r>
          </a:p>
        </p:txBody>
      </p:sp>
      <p:sp>
        <p:nvSpPr>
          <p:cNvPr name="TextBox 43" id="43"/>
          <p:cNvSpPr txBox="true"/>
          <p:nvPr/>
        </p:nvSpPr>
        <p:spPr>
          <a:xfrm rot="-2132000">
            <a:off x="4963642" y="6486310"/>
            <a:ext cx="306273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b="true" sz="1700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Telemetry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6392533" y="1028700"/>
          <a:ext cx="16262753" cy="3993953"/>
        </p:xfrm>
        <a:graphic>
          <a:graphicData uri="http://schemas.openxmlformats.org/presentationml/2006/ole">
            <p:oleObj imgW="19507200" imgH="72390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933450" y="1076325"/>
            <a:ext cx="5363833" cy="240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9"/>
              </a:lnSpc>
            </a:pPr>
            <a:r>
              <a:rPr lang="en-US" sz="434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DANH SÁCH LINH KIỆN &amp; THÔNG SỐ KỸ THUẬT THIẾT BỊ NHÚNG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59268" y="1276350"/>
            <a:ext cx="2253096" cy="338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999"/>
              </a:lnSpc>
            </a:pPr>
            <a:r>
              <a:rPr lang="en-US" b="true" sz="12999">
                <a:solidFill>
                  <a:srgbClr val="303030">
                    <a:alpha val="49804"/>
                  </a:srgbClr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04.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33450" y="3571454"/>
            <a:ext cx="4034176" cy="2173605"/>
            <a:chOff x="0" y="0"/>
            <a:chExt cx="5378902" cy="289814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41710" y="0"/>
              <a:ext cx="5237192" cy="44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B5A2D2">
                      <a:alpha val="80000"/>
                    </a:srgbClr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LINH KIỆN PHỤ TRỢ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06400"/>
              <a:ext cx="5237192" cy="2491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>
                      <a:alpha val="80000"/>
                    </a:srgbClr>
                  </a:solidFill>
                  <a:latin typeface="Clear Sans"/>
                  <a:ea typeface="Clear Sans"/>
                  <a:cs typeface="Clear Sans"/>
                  <a:sym typeface="Clear Sans"/>
                </a:rPr>
                <a:t>Bo Mạch Test (Breadboard)</a:t>
              </a:r>
            </a:p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>
                      <a:alpha val="80000"/>
                    </a:srgbClr>
                  </a:solidFill>
                  <a:latin typeface="Clear Sans"/>
                  <a:ea typeface="Clear Sans"/>
                  <a:cs typeface="Clear Sans"/>
                  <a:sym typeface="Clear Sans"/>
                </a:rPr>
                <a:t>Điện trở</a:t>
              </a:r>
            </a:p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>
                      <a:alpha val="80000"/>
                    </a:srgbClr>
                  </a:solidFill>
                  <a:latin typeface="Clear Sans"/>
                  <a:ea typeface="Clear Sans"/>
                  <a:cs typeface="Clear Sans"/>
                  <a:sym typeface="Clear Sans"/>
                </a:rPr>
                <a:t>Tụ hóa </a:t>
              </a:r>
            </a:p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>
                      <a:alpha val="80000"/>
                    </a:srgbClr>
                  </a:solidFill>
                  <a:latin typeface="Clear Sans"/>
                  <a:ea typeface="Clear Sans"/>
                  <a:cs typeface="Clear Sans"/>
                  <a:sym typeface="Clear Sans"/>
                </a:rPr>
                <a:t>Nguồn +12V PSU</a:t>
              </a:r>
            </a:p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>
                      <a:alpha val="80000"/>
                    </a:srgbClr>
                  </a:solidFill>
                  <a:latin typeface="Clear Sans"/>
                  <a:ea typeface="Clear Sans"/>
                  <a:cs typeface="Clear Sans"/>
                  <a:sym typeface="Clear Sans"/>
                </a:rPr>
                <a:t>Cáp M-M &amp; M-F</a:t>
              </a:r>
            </a:p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>
                      <a:alpha val="80000"/>
                    </a:srgbClr>
                  </a:solidFill>
                  <a:latin typeface="Clear Sans"/>
                  <a:ea typeface="Clear Sans"/>
                  <a:cs typeface="Clear Sans"/>
                  <a:sym typeface="Clear Sans"/>
                </a:rPr>
                <a:t>Cáp JST GH 5-pin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317" y="1181371"/>
            <a:ext cx="17107983" cy="8871296"/>
          </a:xfrm>
          <a:custGeom>
            <a:avLst/>
            <a:gdLst/>
            <a:ahLst/>
            <a:cxnLst/>
            <a:rect r="r" b="b" t="t" l="l"/>
            <a:pathLst>
              <a:path h="8871296" w="17107983">
                <a:moveTo>
                  <a:pt x="0" y="0"/>
                </a:moveTo>
                <a:lnTo>
                  <a:pt x="17107983" y="0"/>
                </a:lnTo>
                <a:lnTo>
                  <a:pt x="17107983" y="8871295"/>
                </a:lnTo>
                <a:lnTo>
                  <a:pt x="0" y="88712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05308" y="926326"/>
            <a:ext cx="3176716" cy="1776904"/>
          </a:xfrm>
          <a:custGeom>
            <a:avLst/>
            <a:gdLst/>
            <a:ahLst/>
            <a:cxnLst/>
            <a:rect r="r" b="b" t="t" l="l"/>
            <a:pathLst>
              <a:path h="1776904" w="3176716">
                <a:moveTo>
                  <a:pt x="0" y="0"/>
                </a:moveTo>
                <a:lnTo>
                  <a:pt x="3176716" y="0"/>
                </a:lnTo>
                <a:lnTo>
                  <a:pt x="3176716" y="1776904"/>
                </a:lnTo>
                <a:lnTo>
                  <a:pt x="0" y="1776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8129" y="481818"/>
            <a:ext cx="10338957" cy="794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3"/>
              </a:lnSpc>
            </a:pPr>
            <a:r>
              <a:rPr lang="en-US" sz="5593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Sơ Đồ Thiết bị Dự Kiến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79582" y="247650"/>
            <a:ext cx="2159435" cy="338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999"/>
              </a:lnSpc>
            </a:pPr>
            <a:r>
              <a:rPr lang="en-US" b="true" sz="12999">
                <a:solidFill>
                  <a:srgbClr val="303030">
                    <a:alpha val="49804"/>
                  </a:srgbClr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05.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2D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154" y="1832636"/>
            <a:ext cx="4741727" cy="659148"/>
            <a:chOff x="0" y="0"/>
            <a:chExt cx="6322302" cy="87886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206519"/>
              <a:ext cx="232913" cy="232913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B5A2D2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456939" y="-47625"/>
              <a:ext cx="5865363" cy="9264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Giao thức: MQTT over TCP chạy trên băng tần Wi-Fi 2.4 GHz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081277"/>
            <a:ext cx="2741718" cy="1732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9"/>
              </a:lnSpc>
            </a:pPr>
            <a:r>
              <a:rPr lang="en-US" sz="12999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06.</a:t>
            </a:r>
          </a:p>
        </p:txBody>
      </p:sp>
      <p:sp>
        <p:nvSpPr>
          <p:cNvPr name="TextBox 7" id="7"/>
          <p:cNvSpPr txBox="true"/>
          <p:nvPr/>
        </p:nvSpPr>
        <p:spPr>
          <a:xfrm rot="5400000">
            <a:off x="15192517" y="7191517"/>
            <a:ext cx="3904913" cy="228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spc="75">
                <a:solidFill>
                  <a:srgbClr val="FFFFFF"/>
                </a:solidFill>
                <a:latin typeface="Clear Sans Light"/>
                <a:ea typeface="Clear Sans Light"/>
                <a:cs typeface="Clear Sans Light"/>
                <a:sym typeface="Clear Sans Light"/>
              </a:rPr>
              <a:t>HỌP CÔNG TY MDM | THÁNG 4/2020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128715" y="1028700"/>
            <a:ext cx="1130585" cy="1133510"/>
            <a:chOff x="0" y="0"/>
            <a:chExt cx="1507446" cy="151134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507446" cy="1511346"/>
              <a:chOff x="0" y="0"/>
              <a:chExt cx="2117940" cy="212342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117940" cy="2123420"/>
              </a:xfrm>
              <a:custGeom>
                <a:avLst/>
                <a:gdLst/>
                <a:ahLst/>
                <a:cxnLst/>
                <a:rect r="r" b="b" t="t" l="l"/>
                <a:pathLst>
                  <a:path h="2123420" w="2117940">
                    <a:moveTo>
                      <a:pt x="0" y="0"/>
                    </a:moveTo>
                    <a:lnTo>
                      <a:pt x="0" y="2123420"/>
                    </a:lnTo>
                    <a:lnTo>
                      <a:pt x="2117940" y="2123420"/>
                    </a:lnTo>
                    <a:lnTo>
                      <a:pt x="2117940" y="0"/>
                    </a:lnTo>
                    <a:lnTo>
                      <a:pt x="0" y="0"/>
                    </a:lnTo>
                    <a:close/>
                    <a:moveTo>
                      <a:pt x="2056980" y="2062460"/>
                    </a:moveTo>
                    <a:lnTo>
                      <a:pt x="59690" y="2062460"/>
                    </a:lnTo>
                    <a:lnTo>
                      <a:pt x="59690" y="59690"/>
                    </a:lnTo>
                    <a:lnTo>
                      <a:pt x="2056980" y="59690"/>
                    </a:lnTo>
                    <a:lnTo>
                      <a:pt x="2056980" y="20624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279299" y="494960"/>
              <a:ext cx="970266" cy="540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b="true" sz="28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ABC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578485"/>
            <a:ext cx="11401372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b="true" sz="3199">
                <a:solidFill>
                  <a:srgbClr val="FFFFFF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GIAO THỨC TRUYỀN DỮ LIỆU MQTT&amp; CẤU TRÚC TELEMETRY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81843" y="2625051"/>
            <a:ext cx="4741727" cy="2416175"/>
            <a:chOff x="0" y="0"/>
            <a:chExt cx="6322302" cy="3221567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206519"/>
              <a:ext cx="232913" cy="232913"/>
              <a:chOff x="0" y="0"/>
              <a:chExt cx="6350000" cy="6350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B5A2D2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456939" y="-47625"/>
              <a:ext cx="5865363" cy="32691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Vì sao chọn MQTT: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Header cực nhẹ: gói tin MQTT nhỏ nhất chỉ 2 byte overhead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Publish/Subscribe: ESP32 chỉ cần bắn dữ liệu lên 1 topic, backend sẽ tự nhận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Duy trì kết nối lâu dài qua TCP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01154" y="5143500"/>
            <a:ext cx="4741727" cy="1014122"/>
            <a:chOff x="0" y="0"/>
            <a:chExt cx="6322302" cy="135216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206519"/>
              <a:ext cx="232913" cy="232913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B5A2D2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456939" y="-47625"/>
              <a:ext cx="5865363" cy="13997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Heartbeat &amp; LWT: cơ chế MQTT dùng để phát hiện thiết bị mất kết nối đột ngột</a:t>
              </a:r>
            </a:p>
          </p:txBody>
        </p:sp>
      </p:grpSp>
      <p:sp>
        <p:nvSpPr>
          <p:cNvPr name="Freeform 21" id="21" descr="Xem trước hình ảnh mã"/>
          <p:cNvSpPr/>
          <p:nvPr/>
        </p:nvSpPr>
        <p:spPr>
          <a:xfrm flipH="false" flipV="false" rot="0">
            <a:off x="7066862" y="4169955"/>
            <a:ext cx="5504102" cy="5504102"/>
          </a:xfrm>
          <a:custGeom>
            <a:avLst/>
            <a:gdLst/>
            <a:ahLst/>
            <a:cxnLst/>
            <a:rect r="r" b="b" t="t" l="l"/>
            <a:pathLst>
              <a:path h="5504102" w="5504102">
                <a:moveTo>
                  <a:pt x="0" y="0"/>
                </a:moveTo>
                <a:lnTo>
                  <a:pt x="5504102" y="0"/>
                </a:lnTo>
                <a:lnTo>
                  <a:pt x="5504102" y="5504102"/>
                </a:lnTo>
                <a:lnTo>
                  <a:pt x="0" y="550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7066862" y="1832636"/>
            <a:ext cx="8332057" cy="2063750"/>
            <a:chOff x="0" y="0"/>
            <a:chExt cx="11109409" cy="2751667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206519"/>
              <a:ext cx="232913" cy="232913"/>
              <a:chOff x="0" y="0"/>
              <a:chExt cx="6350000" cy="6350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B5A2D2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456939" y="-47625"/>
              <a:ext cx="10652470" cy="2799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Cấu Trúc Gói Tin JSON Telemetry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Cảm biến (sensors): Nồng độ PM2.5(           ), CO2 (ppm), Nhiệt độ(     )  và Độ ẩm(%) 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Hệ thống ( system ): Cường độ Wi-Fi RSSI (dBm), thời gian chạy uptime_sec và dung lượng bộ nhớ trống free_heap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MQTT không giới hạn kích thước payload &lt;384 bytes</a:t>
              </a:r>
            </a:p>
          </p:txBody>
        </p:sp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976831" y="2087679"/>
            <a:ext cx="940025" cy="482441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78064" y="2576623"/>
            <a:ext cx="424019" cy="2978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975"/>
            <a:ext cx="1130585" cy="1132960"/>
            <a:chOff x="0" y="0"/>
            <a:chExt cx="1507446" cy="151061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507446" cy="1510613"/>
              <a:chOff x="0" y="0"/>
              <a:chExt cx="2117940" cy="21223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117940" cy="2122390"/>
              </a:xfrm>
              <a:custGeom>
                <a:avLst/>
                <a:gdLst/>
                <a:ahLst/>
                <a:cxnLst/>
                <a:rect r="r" b="b" t="t" l="l"/>
                <a:pathLst>
                  <a:path h="2122390" w="2117940">
                    <a:moveTo>
                      <a:pt x="0" y="0"/>
                    </a:moveTo>
                    <a:lnTo>
                      <a:pt x="0" y="2122390"/>
                    </a:lnTo>
                    <a:lnTo>
                      <a:pt x="2117940" y="2122390"/>
                    </a:lnTo>
                    <a:lnTo>
                      <a:pt x="2117940" y="0"/>
                    </a:lnTo>
                    <a:lnTo>
                      <a:pt x="0" y="0"/>
                    </a:lnTo>
                    <a:close/>
                    <a:moveTo>
                      <a:pt x="2056980" y="2061430"/>
                    </a:moveTo>
                    <a:lnTo>
                      <a:pt x="59690" y="2061430"/>
                    </a:lnTo>
                    <a:lnTo>
                      <a:pt x="59690" y="59690"/>
                    </a:lnTo>
                    <a:lnTo>
                      <a:pt x="2056980" y="59690"/>
                    </a:lnTo>
                    <a:lnTo>
                      <a:pt x="2056980" y="2061430"/>
                    </a:lnTo>
                    <a:close/>
                  </a:path>
                </a:pathLst>
              </a:custGeom>
              <a:solidFill>
                <a:srgbClr val="5C2DBF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279299" y="494960"/>
              <a:ext cx="970266" cy="539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b="true" sz="2800">
                  <a:solidFill>
                    <a:srgbClr val="5C2DB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XYZ</a:t>
              </a:r>
            </a:p>
          </p:txBody>
        </p:sp>
      </p:grpSp>
      <p:graphicFrame>
        <p:nvGraphicFramePr>
          <p:cNvPr name="Object 6" id="6"/>
          <p:cNvGraphicFramePr/>
          <p:nvPr/>
        </p:nvGraphicFramePr>
        <p:xfrm>
          <a:off x="1028700" y="2740379"/>
          <a:ext cx="10048836" cy="8229600"/>
        </p:xfrm>
        <a:graphic>
          <a:graphicData uri="http://schemas.openxmlformats.org/presentationml/2006/ole">
            <p:oleObj imgW="12052300" imgH="10236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630736" y="1410694"/>
            <a:ext cx="9013304" cy="39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b="true" sz="2800">
                <a:solidFill>
                  <a:srgbClr val="303030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PHÂN BỔ KÊNH TOPIC &amp; DANH SÁCH LỆNH ĐIỀU KHIỂN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21025" y="9004933"/>
            <a:ext cx="2565299" cy="1732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999"/>
              </a:lnSpc>
            </a:pPr>
            <a:r>
              <a:rPr lang="en-US" b="true" sz="12999">
                <a:solidFill>
                  <a:srgbClr val="303030">
                    <a:alpha val="49804"/>
                  </a:srgbClr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07.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4310" y="7389242"/>
            <a:ext cx="4864502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>
                    <a:alpha val="80000"/>
                  </a:srgbClr>
                </a:solidFill>
                <a:latin typeface="Clear Sans"/>
                <a:ea typeface="Clear Sans"/>
                <a:cs typeface="Clear Sans"/>
                <a:sym typeface="Clear Sans"/>
              </a:rPr>
              <a:t>QoS 1 (At least once): sender gửi PUBLISH, receiver phải trả về PUBACK. Nếu sender không nhận PUBACK trong thời gian chờ, gửi lại gói y hệt (đánh dấu cờ DUP=1). → Đảm bảo chắc chắn tới ít nhất 1 lần, cân bằng không phải trả phí độ trễ của QoS 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4000" y="2740379"/>
            <a:ext cx="5379637" cy="3116580"/>
            <a:chOff x="0" y="0"/>
            <a:chExt cx="7172849" cy="415544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41710" y="0"/>
              <a:ext cx="5237192" cy="44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5C2DBF">
                      <a:alpha val="80000"/>
                    </a:srgbClr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Danh Sách Lệnh Điều Khiển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825500"/>
              <a:ext cx="7172849" cy="3329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>
                      <a:alpha val="80000"/>
                    </a:srgbClr>
                  </a:solidFill>
                  <a:latin typeface="Clear Sans"/>
                  <a:ea typeface="Clear Sans"/>
                  <a:cs typeface="Clear Sans"/>
                  <a:sym typeface="Clear Sans"/>
                </a:rPr>
                <a:t>set_actuator: Bật/tắt và điều chỉnh 4 cấp độ quạt lọc (state: ON/OFF, level: 0–3 tương ứng 0%, 35%, 60%, 90%)</a:t>
              </a:r>
            </a:p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>
                      <a:alpha val="80000"/>
                    </a:srgbClr>
                  </a:solidFill>
                  <a:latin typeface="Clear Sans"/>
                  <a:ea typeface="Clear Sans"/>
                  <a:cs typeface="Clear Sans"/>
                  <a:sym typeface="Clear Sans"/>
                </a:rPr>
                <a:t>display_warning: Hiển thị cảnh báo ô nhiễm dự báo từ hệ thống lên màn hình OLED tại chỗ</a:t>
              </a:r>
            </a:p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>
                      <a:alpha val="80000"/>
                    </a:srgbClr>
                  </a:solidFill>
                  <a:latin typeface="Clear Sans"/>
                  <a:ea typeface="Clear Sans"/>
                  <a:cs typeface="Clear Sans"/>
                  <a:sym typeface="Clear Sans"/>
                </a:rPr>
                <a:t>force_ntp_sync: Ép đồng bộ lại thời gian mạng NTP</a:t>
              </a:r>
            </a:p>
            <a:p>
              <a:pPr algn="l" marL="388622" indent="-194311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000000">
                      <a:alpha val="80000"/>
                    </a:srgbClr>
                  </a:solidFill>
                  <a:latin typeface="Clear Sans"/>
                  <a:ea typeface="Clear Sans"/>
                  <a:cs typeface="Clear Sans"/>
                  <a:sym typeface="Clear Sans"/>
                </a:rPr>
                <a:t>reboot : khởi động lại vi điều khiển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C2D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15238" y="2097439"/>
            <a:ext cx="9475030" cy="7985245"/>
          </a:xfrm>
          <a:custGeom>
            <a:avLst/>
            <a:gdLst/>
            <a:ahLst/>
            <a:cxnLst/>
            <a:rect r="r" b="b" t="t" l="l"/>
            <a:pathLst>
              <a:path h="7985245" w="9475030">
                <a:moveTo>
                  <a:pt x="0" y="0"/>
                </a:moveTo>
                <a:lnTo>
                  <a:pt x="9475030" y="0"/>
                </a:lnTo>
                <a:lnTo>
                  <a:pt x="9475030" y="7985245"/>
                </a:lnTo>
                <a:lnTo>
                  <a:pt x="0" y="79852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47587" y="842007"/>
            <a:ext cx="6836905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>
                <a:solidFill>
                  <a:srgbClr val="B5A2D2"/>
                </a:solidFill>
                <a:latin typeface="Montserrat"/>
                <a:ea typeface="Montserrat"/>
                <a:cs typeface="Montserrat"/>
                <a:sym typeface="Montserrat"/>
              </a:rPr>
              <a:t>THUẬT TOÁN &amp; MÔ HÌNH HỌC SÂU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4881" y="5143500"/>
            <a:ext cx="5918884" cy="2001685"/>
            <a:chOff x="0" y="0"/>
            <a:chExt cx="7891845" cy="266891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7891845" cy="5084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2500" b="true">
                  <a:solidFill>
                    <a:srgbClr val="B5A2D2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#2 Suy diễn liều lượng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816231"/>
              <a:ext cx="7891845" cy="2329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Đầu vào: Thể tích phòng, nồng độ PM2.5 hiện tại, ngưỡng an toàn cơ sở (từ #1) và chỉ số bụi ngoài trời dự kiến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Đầu ra: Cấp độ quạt (filter_level từ 0 đến 3) và thời gian chạy cần thiết (run_duration_minutes)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-342159" y="1276350"/>
            <a:ext cx="2741718" cy="1732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9"/>
              </a:lnSpc>
            </a:pPr>
            <a:r>
              <a:rPr lang="en-US" sz="12999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08.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14881" y="3009894"/>
            <a:ext cx="7136474" cy="2006792"/>
            <a:chOff x="0" y="0"/>
            <a:chExt cx="9515298" cy="267572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9515298" cy="5084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2500" b="true">
                  <a:solidFill>
                    <a:srgbClr val="B5A2D2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#1 Suy diễn ngưỡng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16231"/>
              <a:ext cx="9515298" cy="1859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Đầu vào : Thể tích phòng (volume_m3), mục đích sử dụng (purpose), khu vực địa lý (region), độ thông thoáng (ventilation) và số lượng người ở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Đầu ra : Ngưỡng ô nhiễm cơ sở (base_threshold_pm25)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14881" y="7604901"/>
            <a:ext cx="5918884" cy="1649260"/>
            <a:chOff x="0" y="0"/>
            <a:chExt cx="7891845" cy="219901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7891845" cy="5084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2500" b="true">
                  <a:solidFill>
                    <a:srgbClr val="B5A2D2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#3 Mô hình dự báo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816231"/>
              <a:ext cx="7891845" cy="1859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Đầu vào: Chuỗi dữ liệu 24 giờ lịch sử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Đầu ra : Xuất chuỗi 24 giờ tương lai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Mô hình được Pre-train trên tập dữ liệu mở chất lượng cao (OpenAQ Đông Nam Á)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97021" y="2211793"/>
            <a:ext cx="12006173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MÁY CHỦ TRUNG TÂM, GIAO DIỆN NGƯỜI DÙNG &amp; VÒNG LẶP TỰ ĐỘNG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75536" y="3830692"/>
            <a:ext cx="4032942" cy="3321242"/>
            <a:chOff x="0" y="0"/>
            <a:chExt cx="5377256" cy="442832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5377256" cy="5084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2500" b="true">
                  <a:solidFill>
                    <a:srgbClr val="5C2DB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Máy Chủ Trung Tâm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89231"/>
              <a:ext cx="5377256" cy="37390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Tiếp nhận &amp; Lưu trữ: Thu thập luồng dữ liệu thời gian thực từ tất cả các phòng và lưu trữ để phục vụ phân tích lịch sử.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Cập nhật: Đẩy trực tiếp các chỉ số đo đạc lên giao diện để người dùng theo dõi không bị trễ.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77597" y="3830692"/>
            <a:ext cx="4739621" cy="5098977"/>
            <a:chOff x="0" y="0"/>
            <a:chExt cx="6319495" cy="679863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71045" y="-9525"/>
              <a:ext cx="6148450" cy="5084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2500" b="true">
                  <a:solidFill>
                    <a:srgbClr val="5C2DB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Vòng Lặp Điều Khiển Tự Động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710045"/>
              <a:ext cx="6148450" cy="6088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Tự động đánh giá: Hệ thống liên tục so sánh nồng độ bụi thực tế với ngưỡng an toàn do thuật toán tính toán.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Tự động xử lý:</a:t>
              </a:r>
            </a:p>
            <a:p>
              <a:pPr algn="l" marL="863601" indent="-287867" lvl="2">
                <a:lnSpc>
                  <a:spcPts val="2800"/>
                </a:lnSpc>
                <a:buFont typeface="Arial"/>
                <a:buChar char="⚬"/>
              </a:pP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Khi ô nhiễm: Tự động kích hoạt quạt lọc HEPA ở cấp độ phù hợp để làm sạch không khí.</a:t>
              </a:r>
            </a:p>
            <a:p>
              <a:pPr algn="l" marL="863601" indent="-287867" lvl="2">
                <a:lnSpc>
                  <a:spcPts val="2800"/>
                </a:lnSpc>
                <a:buFont typeface="Arial"/>
                <a:buChar char="⚬"/>
              </a:pP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Cảnh báo sớm: Phát thông báo lên màn hình OLED tại .</a:t>
              </a:r>
            </a:p>
            <a:p>
              <a:pPr algn="l" marL="863601" indent="-287867" lvl="2">
                <a:lnSpc>
                  <a:spcPts val="2800"/>
                </a:lnSpc>
                <a:buFont typeface="Arial"/>
                <a:buChar char="⚬"/>
              </a:pP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Khi không khí sạch: Tự động tắt quạt để tiết kiệm điện và kéo dài tuổi thọ màng lọc.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869435" y="3830692"/>
            <a:ext cx="3927894" cy="2257581"/>
            <a:chOff x="0" y="0"/>
            <a:chExt cx="5237192" cy="301010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5237192" cy="5084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2500" b="true">
                  <a:solidFill>
                    <a:srgbClr val="5C2DB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Giao Diện Người Dùng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89231"/>
              <a:ext cx="5237192" cy="2799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Hiển thị chất lượng không khí từng phòng, biểu đồ lịch sử và đường dự báo 24 giờ.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30303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Cho phép người dùng theo dõi lịch sử lọc tự động hoặc chủ động bật/tắt bộ lọc khi cần.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084807" y="2214908"/>
            <a:ext cx="1130585" cy="1132960"/>
            <a:chOff x="0" y="0"/>
            <a:chExt cx="1507446" cy="1510613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507446" cy="1510613"/>
              <a:chOff x="0" y="0"/>
              <a:chExt cx="2117940" cy="21223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117940" cy="2122390"/>
              </a:xfrm>
              <a:custGeom>
                <a:avLst/>
                <a:gdLst/>
                <a:ahLst/>
                <a:cxnLst/>
                <a:rect r="r" b="b" t="t" l="l"/>
                <a:pathLst>
                  <a:path h="2122390" w="2117940">
                    <a:moveTo>
                      <a:pt x="0" y="0"/>
                    </a:moveTo>
                    <a:lnTo>
                      <a:pt x="0" y="2122390"/>
                    </a:lnTo>
                    <a:lnTo>
                      <a:pt x="2117940" y="2122390"/>
                    </a:lnTo>
                    <a:lnTo>
                      <a:pt x="2117940" y="0"/>
                    </a:lnTo>
                    <a:lnTo>
                      <a:pt x="0" y="0"/>
                    </a:lnTo>
                    <a:close/>
                    <a:moveTo>
                      <a:pt x="2056980" y="2061430"/>
                    </a:moveTo>
                    <a:lnTo>
                      <a:pt x="59690" y="2061430"/>
                    </a:lnTo>
                    <a:lnTo>
                      <a:pt x="59690" y="59690"/>
                    </a:lnTo>
                    <a:lnTo>
                      <a:pt x="2056980" y="59690"/>
                    </a:lnTo>
                    <a:lnTo>
                      <a:pt x="2056980" y="2061430"/>
                    </a:lnTo>
                    <a:close/>
                  </a:path>
                </a:pathLst>
              </a:custGeom>
              <a:solidFill>
                <a:srgbClr val="5C2DBF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279299" y="494960"/>
              <a:ext cx="970266" cy="539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b="true" sz="2800">
                  <a:solidFill>
                    <a:srgbClr val="5C2DB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123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0" y="9003365"/>
            <a:ext cx="2741718" cy="1732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9"/>
              </a:lnSpc>
            </a:pPr>
            <a:r>
              <a:rPr lang="en-US" b="true" sz="12999">
                <a:solidFill>
                  <a:srgbClr val="555555">
                    <a:alpha val="49804"/>
                  </a:srgbClr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09.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5C2D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342159" y="1276350"/>
            <a:ext cx="2741718" cy="1732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9"/>
              </a:lnSpc>
            </a:pPr>
            <a:r>
              <a:rPr lang="en-US" sz="12999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771970" y="3501161"/>
            <a:ext cx="6744059" cy="3917603"/>
            <a:chOff x="0" y="0"/>
            <a:chExt cx="8992079" cy="522347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46204"/>
              <a:ext cx="8992079" cy="36818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667"/>
                </a:lnSpc>
              </a:pPr>
              <a:r>
                <a:rPr lang="en-US" sz="969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Cảm ơn đã lắng nghe!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684080"/>
              <a:ext cx="8992079" cy="434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942345" y="1028700"/>
            <a:ext cx="2316955" cy="1132960"/>
            <a:chOff x="0" y="0"/>
            <a:chExt cx="3089273" cy="151061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3089273" cy="1510613"/>
              <a:chOff x="0" y="0"/>
              <a:chExt cx="4340384" cy="21223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340384" cy="2122390"/>
              </a:xfrm>
              <a:custGeom>
                <a:avLst/>
                <a:gdLst/>
                <a:ahLst/>
                <a:cxnLst/>
                <a:rect r="r" b="b" t="t" l="l"/>
                <a:pathLst>
                  <a:path h="2122390" w="4340384">
                    <a:moveTo>
                      <a:pt x="0" y="0"/>
                    </a:moveTo>
                    <a:lnTo>
                      <a:pt x="0" y="2122390"/>
                    </a:lnTo>
                    <a:lnTo>
                      <a:pt x="4340384" y="2122390"/>
                    </a:lnTo>
                    <a:lnTo>
                      <a:pt x="4340384" y="0"/>
                    </a:lnTo>
                    <a:lnTo>
                      <a:pt x="0" y="0"/>
                    </a:lnTo>
                    <a:close/>
                    <a:moveTo>
                      <a:pt x="4279424" y="2061430"/>
                    </a:moveTo>
                    <a:lnTo>
                      <a:pt x="59690" y="2061430"/>
                    </a:lnTo>
                    <a:lnTo>
                      <a:pt x="59690" y="59690"/>
                    </a:lnTo>
                    <a:lnTo>
                      <a:pt x="4279424" y="59690"/>
                    </a:lnTo>
                    <a:lnTo>
                      <a:pt x="4279424" y="206143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572378" y="494960"/>
              <a:ext cx="1988406" cy="539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b="true" sz="2800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NHÓM 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DAHVVTir0QU</dc:identifier>
  <dcterms:modified xsi:type="dcterms:W3CDTF">2011-08-01T06:04:30Z</dcterms:modified>
  <cp:revision>1</cp:revision>
  <dc:title>Tím và Trắng Hiện đại Họp Công ty Bản thuyết trình</dc:title>
</cp:coreProperties>
</file>